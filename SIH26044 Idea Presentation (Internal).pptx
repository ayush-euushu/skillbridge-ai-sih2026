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341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C4D78E-ABE8-4BD7-B035-71BD3A99C9D5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5163FA-9455-4234-8703-EEF0898AF0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97862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5163FA-9455-4234-8703-EEF0898AF068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230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image.png">
            <a:extLst>
              <a:ext uri="{FF2B5EF4-FFF2-40B4-BE49-F238E27FC236}">
                <a16:creationId xmlns:a16="http://schemas.microsoft.com/office/drawing/2014/main" id="{4C06E304-5601-AA63-B9AC-D86A09D6DFE2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653569" y="103528"/>
            <a:ext cx="1226810" cy="681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400175" y="1563141"/>
            <a:ext cx="9391650" cy="4865042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4122077"/>
              </p:ext>
            </p:extLst>
          </p:nvPr>
        </p:nvGraphicFramePr>
        <p:xfrm>
          <a:off x="1400174" y="1563142"/>
          <a:ext cx="9391649" cy="48650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74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74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90734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4A5965"/>
                          </a:solidFill>
                          <a:latin typeface="Open Sans"/>
                        </a:rPr>
                        <a:t>Problem Statement ID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>
                          <a:solidFill>
                            <a:srgbClr val="334155"/>
                          </a:solidFill>
                          <a:latin typeface="Open Sans SemiBold"/>
                        </a:rPr>
                        <a:t>SIH26044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0534">
                <a:tc>
                  <a:txBody>
                    <a:bodyPr/>
                    <a:lstStyle/>
                    <a:p>
                      <a:pPr algn="l"/>
                      <a:r>
                        <a:rPr sz="1350" b="1" i="0" u="none" dirty="0">
                          <a:solidFill>
                            <a:srgbClr val="4A5965"/>
                          </a:solidFill>
                          <a:latin typeface="Open Sans"/>
                        </a:rPr>
                        <a:t>Problem Statement Title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>
                          <a:solidFill>
                            <a:srgbClr val="334155"/>
                          </a:solidFill>
                          <a:latin typeface="Open Sans SemiBold"/>
                        </a:rPr>
                        <a:t>Intelligent platform for skill mapping, gap analysis, learning pathways and opportunity matching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3088">
                <a:tc>
                  <a:txBody>
                    <a:bodyPr/>
                    <a:lstStyle/>
                    <a:p>
                      <a:pPr algn="l"/>
                      <a:r>
                        <a:rPr sz="1350" b="1" i="0" u="none" dirty="0">
                          <a:solidFill>
                            <a:srgbClr val="4A5965"/>
                          </a:solidFill>
                          <a:latin typeface="Open Sans"/>
                        </a:rPr>
                        <a:t>Theme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Open Sans SemiBold"/>
                        </a:rPr>
                        <a:t>Education &amp; Skill Development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1766">
                <a:tc>
                  <a:txBody>
                    <a:bodyPr/>
                    <a:lstStyle/>
                    <a:p>
                      <a:pPr algn="l"/>
                      <a:r>
                        <a:rPr sz="1350" b="1" i="0" u="none" dirty="0">
                          <a:solidFill>
                            <a:srgbClr val="4A5965"/>
                          </a:solidFill>
                          <a:latin typeface="Open Sans"/>
                        </a:rPr>
                        <a:t>PS Category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>
                          <a:solidFill>
                            <a:srgbClr val="334155"/>
                          </a:solidFill>
                          <a:latin typeface="Open Sans SemiBold"/>
                        </a:rPr>
                        <a:t>Software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88919">
                <a:tc>
                  <a:txBody>
                    <a:bodyPr/>
                    <a:lstStyle/>
                    <a:p>
                      <a:pPr algn="l"/>
                      <a:r>
                        <a:rPr sz="1350" b="1" i="0" u="none" dirty="0">
                          <a:solidFill>
                            <a:srgbClr val="4A5965"/>
                          </a:solidFill>
                          <a:latin typeface="Open Sans"/>
                        </a:rPr>
                        <a:t>Team Members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>
                          <a:solidFill>
                            <a:srgbClr val="334155"/>
                          </a:solidFill>
                          <a:latin typeface="Open Sans SemiBold"/>
                        </a:rPr>
                        <a:t>
</a:t>
                      </a:r>
                      <a:r>
                        <a:rPr sz="1350" b="1" i="0" u="none" dirty="0">
                          <a:solidFill>
                            <a:srgbClr val="334155"/>
                          </a:solidFill>
                          <a:latin typeface="Open Sans"/>
                        </a:rPr>
                        <a:t>Sidhartha </a:t>
                      </a:r>
                      <a:r>
                        <a:rPr sz="1350" b="1" i="0" u="none" dirty="0" err="1">
                          <a:solidFill>
                            <a:srgbClr val="334155"/>
                          </a:solidFill>
                          <a:latin typeface="Open Sans"/>
                        </a:rPr>
                        <a:t>Champati</a:t>
                      </a:r>
                      <a:r>
                        <a:rPr sz="1350" b="0" i="0" u="none" dirty="0">
                          <a:solidFill>
                            <a:srgbClr val="334155"/>
                          </a:solidFill>
                          <a:latin typeface="Open Sans SemiBold"/>
                        </a:rPr>
                        <a:t> (25CSE121) 
</a:t>
                      </a:r>
                      <a:r>
                        <a:rPr sz="1350" b="1" i="0" u="none" dirty="0">
                          <a:solidFill>
                            <a:srgbClr val="334155"/>
                          </a:solidFill>
                          <a:latin typeface="Open Sans"/>
                        </a:rPr>
                        <a:t>Ayush Goud</a:t>
                      </a:r>
                      <a:r>
                        <a:rPr sz="1350" b="0" i="0" u="none" dirty="0">
                          <a:solidFill>
                            <a:srgbClr val="334155"/>
                          </a:solidFill>
                          <a:latin typeface="Open Sans SemiBold"/>
                        </a:rPr>
                        <a:t> (25CSE095)
</a:t>
                      </a:r>
                      <a:r>
                        <a:rPr sz="1350" b="1" i="0" u="none" dirty="0">
                          <a:solidFill>
                            <a:srgbClr val="334155"/>
                          </a:solidFill>
                          <a:latin typeface="Open Sans"/>
                        </a:rPr>
                        <a:t>Prasanna Mathan</a:t>
                      </a:r>
                      <a:r>
                        <a:rPr sz="1350" b="0" i="0" u="none" dirty="0">
                          <a:solidFill>
                            <a:srgbClr val="334155"/>
                          </a:solidFill>
                          <a:latin typeface="Open Sans SemiBold"/>
                        </a:rPr>
                        <a:t> (25CSE073)
</a:t>
                      </a:r>
                      <a:r>
                        <a:rPr sz="1350" b="1" i="0" u="none" dirty="0">
                          <a:solidFill>
                            <a:srgbClr val="334155"/>
                          </a:solidFill>
                          <a:latin typeface="Open Sans"/>
                        </a:rPr>
                        <a:t>Subham </a:t>
                      </a:r>
                      <a:r>
                        <a:rPr sz="1350" b="1" i="0" u="none" dirty="0" err="1">
                          <a:solidFill>
                            <a:srgbClr val="334155"/>
                          </a:solidFill>
                          <a:latin typeface="Open Sans"/>
                        </a:rPr>
                        <a:t>Dashmohapatra</a:t>
                      </a:r>
                      <a:r>
                        <a:rPr sz="1350" b="0" i="0" u="none" dirty="0">
                          <a:solidFill>
                            <a:srgbClr val="334155"/>
                          </a:solidFill>
                          <a:latin typeface="Open Sans SemiBold"/>
                        </a:rPr>
                        <a:t> (25CSE079)
</a:t>
                      </a:r>
                      <a:r>
                        <a:rPr sz="1350" b="1" i="0" u="none" dirty="0">
                          <a:solidFill>
                            <a:srgbClr val="334155"/>
                          </a:solidFill>
                          <a:latin typeface="Open Sans"/>
                        </a:rPr>
                        <a:t>Santosh Pradhan</a:t>
                      </a:r>
                      <a:r>
                        <a:rPr sz="1350" b="0" i="0" u="none" dirty="0">
                          <a:solidFill>
                            <a:srgbClr val="334155"/>
                          </a:solidFill>
                          <a:latin typeface="Open Sans SemiBold"/>
                        </a:rPr>
                        <a:t> (25CSE074)
</a:t>
                      </a:r>
                      <a:r>
                        <a:rPr sz="1350" b="1" i="0" u="none" dirty="0" err="1">
                          <a:solidFill>
                            <a:srgbClr val="334155"/>
                          </a:solidFill>
                          <a:latin typeface="Open Sans"/>
                        </a:rPr>
                        <a:t>Rutumbhara</a:t>
                      </a:r>
                      <a:r>
                        <a:rPr sz="1350" b="1" i="0" u="none" dirty="0">
                          <a:solidFill>
                            <a:srgbClr val="334155"/>
                          </a:solidFill>
                          <a:latin typeface="Open Sans"/>
                        </a:rPr>
                        <a:t> Sahu</a:t>
                      </a:r>
                      <a:r>
                        <a:rPr sz="1350" b="0" i="0" u="none" dirty="0">
                          <a:solidFill>
                            <a:srgbClr val="334155"/>
                          </a:solidFill>
                          <a:latin typeface="Open Sans SemiBold"/>
                        </a:rPr>
                        <a:t> (25CSE017)
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270521" y="782091"/>
            <a:ext cx="7650956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150" b="1" i="0" u="none" dirty="0">
                <a:solidFill>
                  <a:srgbClr val="4A5965"/>
                </a:solidFill>
                <a:latin typeface="Montserrat"/>
              </a:rPr>
              <a:t>SMART INDIA HACKATHON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1400175" y="2479146"/>
            <a:ext cx="281746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208115" y="1563141"/>
            <a:ext cx="9525" cy="56480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217640" y="2479146"/>
            <a:ext cx="657418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400175" y="3314613"/>
            <a:ext cx="281746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08115" y="2127944"/>
            <a:ext cx="9525" cy="84385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17640" y="3314613"/>
            <a:ext cx="657418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400175" y="3892567"/>
            <a:ext cx="281746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08115" y="2971800"/>
            <a:ext cx="9525" cy="56956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17640" y="3892567"/>
            <a:ext cx="657418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408733" y="4510431"/>
            <a:ext cx="281746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208115" y="3541365"/>
            <a:ext cx="9525" cy="56956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217641" y="4520769"/>
            <a:ext cx="657418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208115" y="4110930"/>
            <a:ext cx="9525" cy="2317253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png">
            <a:extLst>
              <a:ext uri="{FF2B5EF4-FFF2-40B4-BE49-F238E27FC236}">
                <a16:creationId xmlns:a16="http://schemas.microsoft.com/office/drawing/2014/main" id="{37538244-1BDD-2AD6-5661-8DAEFA8708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7223" y="114682"/>
            <a:ext cx="1237552" cy="687529"/>
          </a:xfrm>
          <a:prstGeom prst="rect">
            <a:avLst/>
          </a:prstGeom>
        </p:spPr>
      </p:pic>
      <p:pic>
        <p:nvPicPr>
          <p:cNvPr id="30" name="Picture 29" descr="image.png">
            <a:extLst>
              <a:ext uri="{FF2B5EF4-FFF2-40B4-BE49-F238E27FC236}">
                <a16:creationId xmlns:a16="http://schemas.microsoft.com/office/drawing/2014/main" id="{63E0FCB0-0312-5602-AD35-697CB5690C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5580" y="4887279"/>
            <a:ext cx="819150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1647825"/>
            <a:ext cx="3546425" cy="4428827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7950" y="1647825"/>
            <a:ext cx="3555950" cy="442882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9650" y="1647825"/>
            <a:ext cx="3612211" cy="514725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6250" y="6505575"/>
            <a:ext cx="112395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 dirty="0">
                <a:solidFill>
                  <a:srgbClr val="FFFFFF"/>
                </a:solidFill>
                <a:latin typeface="Open Sans SemiBold"/>
              </a:rPr>
              <a:t>@SIH Idea submission- Template </a:t>
            </a:r>
            <a:r>
              <a:rPr sz="1050" b="0" i="0" u="none" dirty="0">
                <a:solidFill>
                  <a:srgbClr val="F27221"/>
                </a:solidFill>
                <a:latin typeface="Open Sans ExtraBold"/>
              </a:rPr>
              <a:t>2</a:t>
            </a:r>
            <a:r>
              <a:rPr sz="1050" b="0" i="0" u="none" dirty="0">
                <a:solidFill>
                  <a:srgbClr val="FFFFFF"/>
                </a:solidFill>
                <a:latin typeface="Open Sans SemiBold"/>
              </a:rPr>
              <a:t> Internal Hackathon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6250" y="442912"/>
            <a:ext cx="8441055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0" i="0" u="none">
                <a:solidFill>
                  <a:srgbClr val="4A5965"/>
                </a:solidFill>
                <a:latin typeface="Montserrat ExtraBold"/>
              </a:rPr>
              <a:t>SKILLBRIDGE AI - </a:t>
            </a:r>
            <a:r>
              <a:rPr sz="2850" b="0" i="0" u="none">
                <a:solidFill>
                  <a:srgbClr val="F27221"/>
                </a:solidFill>
                <a:latin typeface="Montserrat ExtraBold"/>
              </a:rPr>
              <a:t>PROPOSED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5850" y="1981200"/>
            <a:ext cx="2783629" cy="2762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 u="none">
                <a:solidFill>
                  <a:srgbClr val="4A5965"/>
                </a:solidFill>
                <a:latin typeface="Montserrat"/>
              </a:rPr>
              <a:t>Idea /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1525" y="2447925"/>
            <a:ext cx="29654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334155"/>
                </a:solidFill>
                <a:latin typeface="Open Sans"/>
              </a:rPr>
              <a:t>From a generic portal to an intelligent skill-readiness platform.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1525" y="3413670"/>
            <a:ext cx="2965400" cy="13714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 dirty="0" err="1">
                <a:solidFill>
                  <a:srgbClr val="334155"/>
                </a:solidFill>
                <a:latin typeface="Open Sans"/>
              </a:rPr>
              <a:t>SkillBridge</a:t>
            </a:r>
            <a:r>
              <a:rPr sz="1350" b="0" i="0" u="none" dirty="0">
                <a:solidFill>
                  <a:srgbClr val="334155"/>
                </a:solidFill>
                <a:latin typeface="Open Sans"/>
              </a:rPr>
              <a:t> AI is a unified platform connecting students, industry, academicians, and institutions. It moves beyond listing jobs to actively improving candidate readiness.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1525" y="4994671"/>
            <a:ext cx="29654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334155"/>
                </a:solidFill>
                <a:latin typeface="Open Sans"/>
              </a:rPr>
              <a:t>Core Workflow:</a:t>
            </a:r>
            <a:r>
              <a:rPr sz="1350" b="0" i="0" u="none">
                <a:solidFill>
                  <a:srgbClr val="334155"/>
                </a:solidFill>
                <a:latin typeface="Open Sans"/>
              </a:rPr>
              <a:t> Assess → Diagnose → Improve → Verify → Match → Track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94225" y="1981200"/>
            <a:ext cx="2713620" cy="5524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 u="none">
                <a:solidFill>
                  <a:srgbClr val="4A5965"/>
                </a:solidFill>
                <a:latin typeface="Montserrat"/>
              </a:rPr>
              <a:t>Addressing the Problem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35925" y="1981200"/>
            <a:ext cx="2713776" cy="5524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 u="none">
                <a:solidFill>
                  <a:srgbClr val="4A5965"/>
                </a:solidFill>
                <a:latin typeface="Montserrat"/>
              </a:rPr>
              <a:t>Innovation &amp; Uniqueness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1985962"/>
            <a:ext cx="200025" cy="2667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3225" y="2124075"/>
            <a:ext cx="266700" cy="2667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851350" y="2724150"/>
            <a:ext cx="2727275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334155"/>
                </a:solidFill>
                <a:latin typeface="Open Sans"/>
              </a:rPr>
              <a:t>Students:</a:t>
            </a:r>
            <a:r>
              <a:rPr sz="1350" b="0" i="0" u="none">
                <a:solidFill>
                  <a:srgbClr val="334155"/>
                </a:solidFill>
                <a:latin typeface="Open Sans"/>
              </a:rPr>
              <a:t> Clarifies exact skills employers expect, removing guesswork.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51350" y="3689895"/>
            <a:ext cx="2727275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334155"/>
                </a:solidFill>
                <a:latin typeface="Open Sans"/>
              </a:rPr>
              <a:t>Employers:</a:t>
            </a:r>
            <a:r>
              <a:rPr sz="1350" b="0" i="0" u="none">
                <a:solidFill>
                  <a:srgbClr val="334155"/>
                </a:solidFill>
                <a:latin typeface="Open Sans"/>
              </a:rPr>
              <a:t> Solves the struggle to identify candidates with the right competency mix.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51350" y="4655641"/>
            <a:ext cx="2727275" cy="10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334155"/>
                </a:solidFill>
                <a:latin typeface="Open Sans"/>
              </a:rPr>
              <a:t>Institutions:</a:t>
            </a:r>
            <a:r>
              <a:rPr sz="1350" b="0" i="0" u="none">
                <a:solidFill>
                  <a:srgbClr val="334155"/>
                </a:solidFill>
                <a:latin typeface="Open Sans"/>
              </a:rPr>
              <a:t> Provides an integrated view of skill gaps, industry demand, and placement readiness.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54925" y="2124075"/>
            <a:ext cx="266700" cy="2667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693050" y="2724150"/>
            <a:ext cx="2727424" cy="10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334155"/>
                </a:solidFill>
                <a:latin typeface="Open Sans"/>
              </a:rPr>
              <a:t>Explainable matching:</a:t>
            </a:r>
            <a:r>
              <a:rPr sz="1350" b="0" i="0" u="none">
                <a:solidFill>
                  <a:srgbClr val="334155"/>
                </a:solidFill>
                <a:latin typeface="Open Sans"/>
              </a:rPr>
              <a:t> Transparently shows </a:t>
            </a:r>
            <a:r>
              <a:rPr sz="1350" b="0" i="1" u="none">
                <a:solidFill>
                  <a:srgbClr val="334155"/>
                </a:solidFill>
                <a:latin typeface="Open Sans"/>
              </a:rPr>
              <a:t>why</a:t>
            </a:r>
            <a:r>
              <a:rPr sz="1350" b="0" i="0" u="none">
                <a:solidFill>
                  <a:srgbClr val="334155"/>
                </a:solidFill>
                <a:latin typeface="Open Sans"/>
              </a:rPr>
              <a:t> a candidate matches a specific role.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93050" y="3964185"/>
            <a:ext cx="2727424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 dirty="0">
                <a:solidFill>
                  <a:srgbClr val="334155"/>
                </a:solidFill>
                <a:latin typeface="Open Sans"/>
              </a:rPr>
              <a:t>Skill-gap-to-roadmap:</a:t>
            </a:r>
            <a:r>
              <a:rPr sz="1350" b="0" i="0" u="none" dirty="0">
                <a:solidFill>
                  <a:srgbClr val="334155"/>
                </a:solidFill>
                <a:latin typeface="Open Sans"/>
              </a:rPr>
              <a:t> Translates missing competencies into actionable learning steps.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93050" y="4929931"/>
            <a:ext cx="2727424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 dirty="0">
                <a:solidFill>
                  <a:srgbClr val="334155"/>
                </a:solidFill>
                <a:latin typeface="Open Sans"/>
              </a:rPr>
              <a:t>Skill Passport:</a:t>
            </a:r>
            <a:r>
              <a:rPr sz="1350" b="0" i="0" u="none" dirty="0">
                <a:solidFill>
                  <a:srgbClr val="334155"/>
                </a:solidFill>
                <a:latin typeface="Open Sans"/>
              </a:rPr>
              <a:t> Creates a digital portfolio with tiered evidence and verification levels.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93050" y="5895677"/>
            <a:ext cx="2727424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 dirty="0">
                <a:solidFill>
                  <a:srgbClr val="334155"/>
                </a:solidFill>
                <a:latin typeface="Open Sans"/>
              </a:rPr>
              <a:t>Institution-level Intelligence:</a:t>
            </a:r>
            <a:r>
              <a:rPr sz="1350" b="0" i="0" u="none" dirty="0">
                <a:solidFill>
                  <a:srgbClr val="334155"/>
                </a:solidFill>
                <a:latin typeface="Open Sans"/>
              </a:rPr>
              <a:t> Dashboard analytics for macro-level curriculum adjustments.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13225" y="2724150"/>
            <a:ext cx="85725" cy="18097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13225" y="3689895"/>
            <a:ext cx="85725" cy="180975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13225" y="4655641"/>
            <a:ext cx="85725" cy="180975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54925" y="2724150"/>
            <a:ext cx="85725" cy="18097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54925" y="3964185"/>
            <a:ext cx="85725" cy="180975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54925" y="4929931"/>
            <a:ext cx="85725" cy="180975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54925" y="5895677"/>
            <a:ext cx="85725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6825"/>
            <a:ext cx="12192000" cy="559117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047875"/>
            <a:ext cx="2762250" cy="4953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2047875"/>
            <a:ext cx="3095625" cy="4953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5125" y="2047875"/>
            <a:ext cx="2619375" cy="4953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0" y="2047875"/>
            <a:ext cx="2124075" cy="4953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6250" y="6505575"/>
            <a:ext cx="112395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FFFFFF"/>
                </a:solidFill>
                <a:latin typeface="Open Sans SemiBold"/>
              </a:rPr>
              <a:t>@SIH Idea submission- Template </a:t>
            </a:r>
            <a:r>
              <a:rPr sz="1050" b="0" i="0" u="none">
                <a:solidFill>
                  <a:srgbClr val="F27221"/>
                </a:solidFill>
                <a:latin typeface="Open Sans ExtraBold"/>
              </a:rPr>
              <a:t>3</a:t>
            </a:r>
            <a:r>
              <a:rPr sz="1050" b="0" i="0" u="none">
                <a:solidFill>
                  <a:srgbClr val="FFFFFF"/>
                </a:solidFill>
                <a:latin typeface="Open Sans SemiBold"/>
              </a:rPr>
              <a:t> Internal Hackathon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6250" y="442912"/>
            <a:ext cx="4980622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0" i="0" u="none">
                <a:solidFill>
                  <a:srgbClr val="4A5965"/>
                </a:solidFill>
                <a:latin typeface="Montserrat ExtraBold"/>
              </a:rPr>
              <a:t>TECHNICAL </a:t>
            </a:r>
            <a:r>
              <a:rPr sz="2850" b="0" i="0" u="none">
                <a:solidFill>
                  <a:srgbClr val="F27221"/>
                </a:solidFill>
                <a:latin typeface="Montserrat ExtraBold"/>
              </a:rPr>
              <a:t>APPROACH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6250" y="1647825"/>
            <a:ext cx="117157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4A5965"/>
                </a:solidFill>
                <a:latin typeface="Montserrat"/>
              </a:rPr>
              <a:t>Technologies to be used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6250" y="2924175"/>
            <a:ext cx="117157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4A5965"/>
                </a:solidFill>
                <a:latin typeface="Montserrat"/>
              </a:rPr>
              <a:t>Methodology and Implementation Process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2181225"/>
            <a:ext cx="228600" cy="2286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76637" y="2181225"/>
            <a:ext cx="200025" cy="2286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62762" y="2181225"/>
            <a:ext cx="200025" cy="2286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58350" y="2181225"/>
            <a:ext cx="2286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1094151"/>
            <a:ext cx="3498800" cy="550798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7950" y="1094151"/>
            <a:ext cx="3498800" cy="550798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9650" y="1094152"/>
            <a:ext cx="3498947" cy="550798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6250" y="442912"/>
            <a:ext cx="5820727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0" i="0" u="none">
                <a:solidFill>
                  <a:srgbClr val="4A5965"/>
                </a:solidFill>
                <a:latin typeface="Montserrat ExtraBold"/>
              </a:rPr>
              <a:t>FEASIBILITY AND </a:t>
            </a:r>
            <a:r>
              <a:rPr sz="2850" b="0" i="0" u="none">
                <a:solidFill>
                  <a:srgbClr val="F27221"/>
                </a:solidFill>
                <a:latin typeface="Montserrat ExtraBold"/>
              </a:rPr>
              <a:t>VIABILITY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3950" y="1293302"/>
            <a:ext cx="2743624" cy="2762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 u="none">
                <a:solidFill>
                  <a:srgbClr val="4A5965"/>
                </a:solidFill>
                <a:latin typeface="Montserrat"/>
              </a:rPr>
              <a:t>Feasibility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1525" y="1760027"/>
            <a:ext cx="29654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334155"/>
                </a:solidFill>
                <a:latin typeface="Open Sans"/>
              </a:rPr>
              <a:t>Modular Architecture:</a:t>
            </a:r>
            <a:r>
              <a:rPr sz="1350" b="0" i="0" u="none">
                <a:solidFill>
                  <a:srgbClr val="334155"/>
                </a:solidFill>
                <a:latin typeface="Open Sans"/>
              </a:rPr>
              <a:t> Allows delivery of a working MVP first, scaling complex features later.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1525" y="5360179"/>
            <a:ext cx="2965400" cy="8099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 dirty="0">
                <a:solidFill>
                  <a:srgbClr val="334155"/>
                </a:solidFill>
                <a:latin typeface="Open Sans"/>
              </a:rPr>
              <a:t>Economic Viability:</a:t>
            </a:r>
            <a:r>
              <a:rPr sz="1350" b="0" i="0" u="none" dirty="0">
                <a:solidFill>
                  <a:srgbClr val="334155"/>
                </a:solidFill>
                <a:latin typeface="Open Sans"/>
              </a:rPr>
              <a:t> Primarily software-based utilizing open-source technologies to drastically reduce development costs.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94225" y="1293302"/>
            <a:ext cx="2713620" cy="2762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 u="none">
                <a:solidFill>
                  <a:srgbClr val="4A5965"/>
                </a:solidFill>
                <a:latin typeface="Montserrat"/>
              </a:rPr>
              <a:t>Potential Challenges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35925" y="1293302"/>
            <a:ext cx="2713776" cy="2762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 u="none">
                <a:solidFill>
                  <a:srgbClr val="4A5965"/>
                </a:solidFill>
                <a:latin typeface="Montserrat"/>
              </a:rPr>
              <a:t>Mitigation Strategies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525" y="1298064"/>
            <a:ext cx="238125" cy="2667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09650" y="2725772"/>
            <a:ext cx="272727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334155"/>
                </a:solidFill>
                <a:latin typeface="Open Sans"/>
              </a:rPr>
              <a:t>Phase 1:</a:t>
            </a:r>
            <a:r>
              <a:rPr sz="1350" b="0" i="0" u="none">
                <a:solidFill>
                  <a:srgbClr val="334155"/>
                </a:solidFill>
                <a:latin typeface="Open Sans"/>
              </a:rPr>
              <a:t> MVP (Profiles, Assessment, Basic Matching)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9650" y="3417228"/>
            <a:ext cx="272727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334155"/>
                </a:solidFill>
                <a:latin typeface="Open Sans"/>
              </a:rPr>
              <a:t>Phase 2:</a:t>
            </a:r>
            <a:r>
              <a:rPr sz="1350" b="0" i="0" u="none">
                <a:solidFill>
                  <a:srgbClr val="334155"/>
                </a:solidFill>
                <a:latin typeface="Open Sans"/>
              </a:rPr>
              <a:t> Intelligence (Advanced Gap Analysis)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9650" y="4108683"/>
            <a:ext cx="272727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334155"/>
                </a:solidFill>
                <a:latin typeface="Open Sans"/>
              </a:rPr>
              <a:t>Phase 3:</a:t>
            </a:r>
            <a:r>
              <a:rPr sz="1350" b="0" i="0" u="none">
                <a:solidFill>
                  <a:srgbClr val="334155"/>
                </a:solidFill>
                <a:latin typeface="Open Sans"/>
              </a:rPr>
              <a:t> Verification (Skill Passport)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9650" y="4800139"/>
            <a:ext cx="2727275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334155"/>
                </a:solidFill>
                <a:latin typeface="Open Sans"/>
              </a:rPr>
              <a:t>Phase 4:</a:t>
            </a:r>
            <a:r>
              <a:rPr sz="1350" b="0" i="0" u="none">
                <a:solidFill>
                  <a:srgbClr val="334155"/>
                </a:solidFill>
                <a:latin typeface="Open Sans"/>
              </a:rPr>
              <a:t> Scale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3225" y="1298064"/>
            <a:ext cx="266700" cy="2667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851350" y="1760027"/>
            <a:ext cx="2727275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334155"/>
                </a:solidFill>
                <a:latin typeface="Open Sans"/>
              </a:rPr>
              <a:t>Data Quality &amp; Availability:</a:t>
            </a:r>
            <a:r>
              <a:rPr sz="1350" b="0" i="0" u="none">
                <a:solidFill>
                  <a:srgbClr val="334155"/>
                </a:solidFill>
                <a:latin typeface="Open Sans"/>
              </a:rPr>
              <a:t> Reliance on accurate institutional data and competency mappings.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51350" y="2725772"/>
            <a:ext cx="2727275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334155"/>
                </a:solidFill>
                <a:latin typeface="Open Sans"/>
              </a:rPr>
              <a:t>AI Matching Errors:</a:t>
            </a:r>
            <a:r>
              <a:rPr sz="1350" b="0" i="0" u="none">
                <a:solidFill>
                  <a:srgbClr val="334155"/>
                </a:solidFill>
                <a:latin typeface="Open Sans"/>
              </a:rPr>
              <a:t> Risk of algorithms incorrectly scoring or misinterpreting candidate skills.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51350" y="3691518"/>
            <a:ext cx="2727275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334155"/>
                </a:solidFill>
                <a:latin typeface="Open Sans"/>
              </a:rPr>
              <a:t>Data Privacy:</a:t>
            </a:r>
            <a:r>
              <a:rPr sz="1350" b="0" i="0" u="none">
                <a:solidFill>
                  <a:srgbClr val="334155"/>
                </a:solidFill>
                <a:latin typeface="Open Sans"/>
              </a:rPr>
              <a:t> Handling sensitive student academic and personal data securely.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51350" y="4657264"/>
            <a:ext cx="2727275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334155"/>
                </a:solidFill>
                <a:latin typeface="Open Sans"/>
              </a:rPr>
              <a:t>Scope Creep:</a:t>
            </a:r>
            <a:r>
              <a:rPr sz="1350" b="0" i="0" u="none">
                <a:solidFill>
                  <a:srgbClr val="334155"/>
                </a:solidFill>
                <a:latin typeface="Open Sans"/>
              </a:rPr>
              <a:t> Overcomplicating the platform before core mechanics work.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54925" y="1298064"/>
            <a:ext cx="266700" cy="2667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693050" y="1760027"/>
            <a:ext cx="2727424" cy="10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334155"/>
                </a:solidFill>
                <a:latin typeface="Open Sans"/>
              </a:rPr>
              <a:t>Data Strategy:</a:t>
            </a:r>
            <a:r>
              <a:rPr sz="1350" b="0" i="0" u="none">
                <a:solidFill>
                  <a:srgbClr val="334155"/>
                </a:solidFill>
                <a:latin typeface="Open Sans"/>
              </a:rPr>
              <a:t> Start with curated/demo datasets; build robust ingestion interfaces for later verified integration.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93050" y="3000062"/>
            <a:ext cx="2727424" cy="10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334155"/>
                </a:solidFill>
                <a:latin typeface="Open Sans"/>
              </a:rPr>
              <a:t>AI Transparency:</a:t>
            </a:r>
            <a:r>
              <a:rPr sz="1350" b="0" i="0" u="none">
                <a:solidFill>
                  <a:srgbClr val="334155"/>
                </a:solidFill>
                <a:latin typeface="Open Sans"/>
              </a:rPr>
              <a:t> Implement </a:t>
            </a:r>
            <a:r>
              <a:rPr sz="1350" b="0" i="1" u="none">
                <a:solidFill>
                  <a:srgbClr val="334155"/>
                </a:solidFill>
                <a:latin typeface="Open Sans"/>
              </a:rPr>
              <a:t>explainable rules</a:t>
            </a:r>
            <a:r>
              <a:rPr sz="1350" b="0" i="0" u="none">
                <a:solidFill>
                  <a:srgbClr val="334155"/>
                </a:solidFill>
                <a:latin typeface="Open Sans"/>
              </a:rPr>
              <a:t> and a human-in-the-loop review mechanism for matching logic.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93050" y="4240098"/>
            <a:ext cx="2727424" cy="10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334155"/>
                </a:solidFill>
                <a:latin typeface="Open Sans"/>
              </a:rPr>
              <a:t>Security Protocol:</a:t>
            </a:r>
            <a:r>
              <a:rPr sz="1350" b="0" i="0" u="none">
                <a:solidFill>
                  <a:srgbClr val="334155"/>
                </a:solidFill>
                <a:latin typeface="Open Sans"/>
              </a:rPr>
              <a:t> Enforce strict Role-Based Access Control (RBAC), JWT authentication, and secure document storage.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93050" y="5480134"/>
            <a:ext cx="2727424" cy="6899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334155"/>
                </a:solidFill>
                <a:latin typeface="Open Sans"/>
              </a:rPr>
              <a:t>MVP-First Design:</a:t>
            </a:r>
            <a:r>
              <a:rPr sz="1350" b="0" i="0" u="none">
                <a:solidFill>
                  <a:srgbClr val="334155"/>
                </a:solidFill>
                <a:latin typeface="Open Sans"/>
              </a:rPr>
              <a:t> Stick strictly to Phase 1 deliverables for the hackathon prototype.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1525" y="2725772"/>
            <a:ext cx="85725" cy="180975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1525" y="3417228"/>
            <a:ext cx="85725" cy="180975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1525" y="4108683"/>
            <a:ext cx="85725" cy="180975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1525" y="4800139"/>
            <a:ext cx="85725" cy="180975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13225" y="1760027"/>
            <a:ext cx="85725" cy="180975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13225" y="2725772"/>
            <a:ext cx="85725" cy="180975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13225" y="3691518"/>
            <a:ext cx="85725" cy="180975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13225" y="4657264"/>
            <a:ext cx="85725" cy="180975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54925" y="1760027"/>
            <a:ext cx="85725" cy="180975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54925" y="3000062"/>
            <a:ext cx="85725" cy="180975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54925" y="4240098"/>
            <a:ext cx="85725" cy="180975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54925" y="5480134"/>
            <a:ext cx="85725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0" y="1647825"/>
            <a:ext cx="2619375" cy="2128837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6375" y="1647825"/>
            <a:ext cx="2619375" cy="212883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3967162"/>
            <a:ext cx="2619375" cy="212883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6375" y="3967162"/>
            <a:ext cx="2619375" cy="212883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362700"/>
            <a:ext cx="12192000" cy="495300"/>
          </a:xfrm>
          <a:prstGeom prst="rect">
            <a:avLst/>
          </a:prstGeom>
          <a:solidFill>
            <a:srgbClr val="4A5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76250" y="6505575"/>
            <a:ext cx="112395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FFFFFF"/>
                </a:solidFill>
                <a:latin typeface="Open Sans SemiBold"/>
              </a:rPr>
              <a:t>@SIH Idea submission- Template </a:t>
            </a:r>
            <a:r>
              <a:rPr sz="1050" b="0" i="0" u="none">
                <a:solidFill>
                  <a:srgbClr val="F27221"/>
                </a:solidFill>
                <a:latin typeface="Open Sans ExtraBold"/>
              </a:rPr>
              <a:t>5</a:t>
            </a:r>
            <a:r>
              <a:rPr sz="1050" b="0" i="0" u="none">
                <a:solidFill>
                  <a:srgbClr val="FFFFFF"/>
                </a:solidFill>
                <a:latin typeface="Open Sans SemiBold"/>
              </a:rPr>
              <a:t> Internal Hackathon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6250" y="442912"/>
            <a:ext cx="4880610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0" i="0" u="none">
                <a:solidFill>
                  <a:srgbClr val="4A5965"/>
                </a:solidFill>
                <a:latin typeface="Montserrat ExtraBold"/>
              </a:rPr>
              <a:t>IMPACT AND </a:t>
            </a:r>
            <a:r>
              <a:rPr sz="2850" b="0" i="0" u="none">
                <a:solidFill>
                  <a:srgbClr val="F27221"/>
                </a:solidFill>
                <a:latin typeface="Montserrat ExtraBold"/>
              </a:rPr>
              <a:t>BENEFITS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6250" y="1647825"/>
            <a:ext cx="5700712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4A5965"/>
                </a:solidFill>
                <a:latin typeface="Montserrat"/>
              </a:rPr>
              <a:t>Core Impact Target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" y="2143125"/>
            <a:ext cx="5429250" cy="16383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76250" y="4067175"/>
            <a:ext cx="5429250" cy="10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34155"/>
                </a:solidFill>
                <a:latin typeface="Open Sans"/>
              </a:rPr>
              <a:t>One unified platform creates compounding value. As students improve their readiness through targeted upskilling, industry matching becomes more efficient, leading to better hiring pipelines and institutional placement records.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72250" y="1885950"/>
            <a:ext cx="2200275" cy="228600"/>
          </a:xfrm>
          <a:prstGeom prst="rect">
            <a:avLst/>
          </a:prstGeom>
          <a:noFill/>
        </p:spPr>
        <p:txBody>
          <a:bodyPr wrap="square" lIns="17145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3B82F6"/>
                </a:solidFill>
                <a:latin typeface="Montserrat"/>
              </a:rPr>
              <a:t>Students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72250" y="2209800"/>
            <a:ext cx="2095500" cy="12189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334155"/>
                </a:solidFill>
                <a:latin typeface="Open Sans"/>
              </a:rPr>
              <a:t>Understand personal strengths &amp; gaps. Receive personalized learning paths and build a verified digital portfolio.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82125" y="1885950"/>
            <a:ext cx="2200275" cy="228600"/>
          </a:xfrm>
          <a:prstGeom prst="rect">
            <a:avLst/>
          </a:prstGeom>
          <a:noFill/>
        </p:spPr>
        <p:txBody>
          <a:bodyPr wrap="square" lIns="1428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27221"/>
                </a:solidFill>
                <a:latin typeface="Montserrat"/>
              </a:rPr>
              <a:t>Industry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82125" y="2209800"/>
            <a:ext cx="2095500" cy="12189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334155"/>
                </a:solidFill>
                <a:latin typeface="Open Sans"/>
              </a:rPr>
              <a:t>Define clear competency requirements. Find better-fit candidates faster and accurately track the hiring pipeline.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72250" y="4205287"/>
            <a:ext cx="2200275" cy="228600"/>
          </a:xfrm>
          <a:prstGeom prst="rect">
            <a:avLst/>
          </a:prstGeom>
          <a:noFill/>
        </p:spPr>
        <p:txBody>
          <a:bodyPr wrap="square" lIns="23812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23893F"/>
                </a:solidFill>
                <a:latin typeface="Montserrat"/>
              </a:rPr>
              <a:t>Academia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72250" y="4529137"/>
            <a:ext cx="2095500" cy="12189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334155"/>
                </a:solidFill>
                <a:latin typeface="Open Sans"/>
              </a:rPr>
              <a:t>Gain visibility into current industry skill demands. Improve curriculum alignment and support effective mentorship.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82125" y="4205287"/>
            <a:ext cx="2200275" cy="228600"/>
          </a:xfrm>
          <a:prstGeom prst="rect">
            <a:avLst/>
          </a:prstGeom>
          <a:noFill/>
        </p:spPr>
        <p:txBody>
          <a:bodyPr wrap="square" lIns="19050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8B5CF6"/>
                </a:solidFill>
                <a:latin typeface="Montserrat"/>
              </a:rPr>
              <a:t>Institutions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82125" y="4529137"/>
            <a:ext cx="2095500" cy="12189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334155"/>
                </a:solidFill>
                <a:latin typeface="Open Sans"/>
              </a:rPr>
              <a:t>Monitor cohort skill development. Identify critical learning gaps and utilize analytics for strategic placement planning.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2250" y="1905000"/>
            <a:ext cx="171450" cy="1905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82125" y="1905000"/>
            <a:ext cx="142875" cy="1905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72250" y="4224337"/>
            <a:ext cx="238125" cy="1905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82125" y="4224337"/>
            <a:ext cx="19050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1266738"/>
            <a:ext cx="11239500" cy="53055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76250" y="442912"/>
            <a:ext cx="6270783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0" i="0" u="none" dirty="0">
                <a:solidFill>
                  <a:srgbClr val="4A5965"/>
                </a:solidFill>
                <a:latin typeface="Montserrat ExtraBold"/>
              </a:rPr>
              <a:t>RESEARCH AND </a:t>
            </a:r>
            <a:r>
              <a:rPr sz="2850" b="0" i="0" u="none" dirty="0">
                <a:solidFill>
                  <a:srgbClr val="F27221"/>
                </a:solidFill>
                <a:latin typeface="Montserrat ExtraBold"/>
              </a:rPr>
              <a:t>REFERENCES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90625" y="1549742"/>
            <a:ext cx="10741342" cy="2762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 u="none" dirty="0">
                <a:solidFill>
                  <a:srgbClr val="4A5965"/>
                </a:solidFill>
                <a:latin typeface="Montserrat"/>
              </a:rPr>
              <a:t>Frameworks and Research Base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525" y="1561058"/>
            <a:ext cx="304800" cy="2667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1525" y="2336159"/>
            <a:ext cx="5390673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27221"/>
                </a:solidFill>
                <a:latin typeface="Montserrat"/>
              </a:rPr>
              <a:t>Government &amp; Competency Frameworks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86500" y="2336159"/>
            <a:ext cx="5390673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27221"/>
                </a:solidFill>
                <a:latin typeface="Montserrat"/>
              </a:rPr>
              <a:t>AI/ML &amp; Industry Research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9650" y="2707634"/>
            <a:ext cx="489585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334155"/>
                </a:solidFill>
                <a:latin typeface="Open Sans"/>
              </a:rPr>
              <a:t>SIH26044 Documentation:</a:t>
            </a:r>
            <a:r>
              <a:rPr sz="1350" b="0" i="0" u="none">
                <a:solidFill>
                  <a:srgbClr val="334155"/>
                </a:solidFill>
                <a:latin typeface="Open Sans"/>
              </a:rPr>
              <a:t> Adherence to the core problem statement, guidelines, and expected outcomes provided by the Ministry.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9650" y="3673379"/>
            <a:ext cx="489585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334155"/>
                </a:solidFill>
                <a:latin typeface="Open Sans"/>
              </a:rPr>
              <a:t>NSQF Alignment:</a:t>
            </a:r>
            <a:r>
              <a:rPr sz="1350" b="0" i="0" u="none">
                <a:solidFill>
                  <a:srgbClr val="334155"/>
                </a:solidFill>
                <a:latin typeface="Open Sans"/>
              </a:rPr>
              <a:t> Integration methodologies based on the National Skill Qualification Framework (NSQF) to standardize competency evaluation.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9650" y="4639125"/>
            <a:ext cx="489585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334155"/>
                </a:solidFill>
                <a:latin typeface="Open Sans"/>
              </a:rPr>
              <a:t>Public Datasets:</a:t>
            </a:r>
            <a:r>
              <a:rPr sz="1350" b="0" i="0" u="none">
                <a:solidFill>
                  <a:srgbClr val="334155"/>
                </a:solidFill>
                <a:latin typeface="Open Sans"/>
              </a:rPr>
              <a:t> Utilization of approved government skill-development and employment datasets for baseline modeling.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4625" y="2707634"/>
            <a:ext cx="489585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334155"/>
                </a:solidFill>
                <a:latin typeface="Open Sans"/>
              </a:rPr>
              <a:t>Skill Extraction:</a:t>
            </a:r>
            <a:r>
              <a:rPr sz="1350" b="0" i="0" u="none">
                <a:solidFill>
                  <a:srgbClr val="334155"/>
                </a:solidFill>
                <a:latin typeface="Open Sans"/>
              </a:rPr>
              <a:t> Research on NLP-based Named Entity Recognition (NER) for accurate skill extraction from unstructured text (resumes/syllabi).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4625" y="3673379"/>
            <a:ext cx="489585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334155"/>
                </a:solidFill>
                <a:latin typeface="Open Sans"/>
              </a:rPr>
              <a:t>Semantic Matching:</a:t>
            </a:r>
            <a:r>
              <a:rPr sz="1350" b="0" i="0" u="none">
                <a:solidFill>
                  <a:srgbClr val="334155"/>
                </a:solidFill>
                <a:latin typeface="Open Sans"/>
              </a:rPr>
              <a:t> Implementation of semantic similarity algorithms and vector embeddings for high-accuracy role matching.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4625" y="4639125"/>
            <a:ext cx="489585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334155"/>
                </a:solidFill>
                <a:latin typeface="Open Sans"/>
              </a:rPr>
              <a:t>Industry Matrices:</a:t>
            </a:r>
            <a:r>
              <a:rPr sz="1350" b="0" i="0" u="none">
                <a:solidFill>
                  <a:srgbClr val="334155"/>
                </a:solidFill>
                <a:latin typeface="Open Sans"/>
              </a:rPr>
              <a:t> Analysis of employer-defined role competency matrices to structure the platform's gap analysis logic.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4625" y="5604871"/>
            <a:ext cx="489585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334155"/>
                </a:solidFill>
                <a:latin typeface="Open Sans"/>
              </a:rPr>
              <a:t>Explainable AI (XAI):</a:t>
            </a:r>
            <a:r>
              <a:rPr sz="1350" b="0" i="0" u="none">
                <a:solidFill>
                  <a:srgbClr val="334155"/>
                </a:solidFill>
                <a:latin typeface="Open Sans"/>
              </a:rPr>
              <a:t> Frameworks ensuring recommendation scoring remains transparent to the end-users.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2707634"/>
            <a:ext cx="85725" cy="1809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3673379"/>
            <a:ext cx="85725" cy="1809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4639125"/>
            <a:ext cx="85725" cy="1809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707634"/>
            <a:ext cx="85725" cy="1809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3673379"/>
            <a:ext cx="85725" cy="18097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4639125"/>
            <a:ext cx="85725" cy="18097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5604871"/>
            <a:ext cx="85725" cy="1809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706</Words>
  <Application>Microsoft Office PowerPoint</Application>
  <PresentationFormat>Widescreen</PresentationFormat>
  <Paragraphs>72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Aptos</vt:lpstr>
      <vt:lpstr>Arial</vt:lpstr>
      <vt:lpstr>Calibri</vt:lpstr>
      <vt:lpstr>Montserrat</vt:lpstr>
      <vt:lpstr>Montserrat ExtraBold</vt:lpstr>
      <vt:lpstr>Open Sans</vt:lpstr>
      <vt:lpstr>Open Sans ExtraBold</vt:lpstr>
      <vt:lpstr>Open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Ayush Goud</cp:lastModifiedBy>
  <cp:revision>2</cp:revision>
  <dcterms:created xsi:type="dcterms:W3CDTF">2013-01-27T09:14:16Z</dcterms:created>
  <dcterms:modified xsi:type="dcterms:W3CDTF">2026-09-06T17:47:41Z</dcterms:modified>
  <cp:category/>
</cp:coreProperties>
</file>